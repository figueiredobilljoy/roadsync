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02f473473e4a19" /><Relationship Type="http://schemas.openxmlformats.org/officeDocument/2006/relationships/extended-properties" Target="/docProps/app.xml" Id="Re022aa3769ac4065" /><Relationship Type="http://schemas.openxmlformats.org/officeDocument/2006/relationships/officeDocument" Target="/ppt/presentation.xml" Id="R1676bf2f2f8649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e8a223aa99432f"/>
  </p:sldMasterIdLst>
  <p:notesMasterIdLst>
    <p:notesMasterId xmlns:r="http://schemas.openxmlformats.org/officeDocument/2006/relationships" r:id="Raa9a1267e66d43c0"/>
  </p:notesMasterIdLst>
  <p:sldIdLst>
    <p:sldId xmlns:r="http://schemas.openxmlformats.org/officeDocument/2006/relationships" id="256" r:id="Re552a5f97ed74185"/>
    <p:sldId xmlns:r="http://schemas.openxmlformats.org/officeDocument/2006/relationships" id="257" r:id="R337f068b6daa4513"/>
    <p:sldId xmlns:r="http://schemas.openxmlformats.org/officeDocument/2006/relationships" id="258" r:id="Rd6a99e916f1a4e87"/>
    <p:sldId xmlns:r="http://schemas.openxmlformats.org/officeDocument/2006/relationships" id="259" r:id="R41e53cbb96d4498a"/>
    <p:sldId xmlns:r="http://schemas.openxmlformats.org/officeDocument/2006/relationships" id="260" r:id="R1099913414f74c8a"/>
    <p:sldId xmlns:r="http://schemas.openxmlformats.org/officeDocument/2006/relationships" id="261" r:id="Re76e06e13db54ad1"/>
  </p:sldIdLst>
  <p:sldSz cx="9144000" cy="51435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4dec4618a34516" /><Relationship Type="http://schemas.openxmlformats.org/officeDocument/2006/relationships/slideMaster" Target="/ppt/slideMasters/slideMaster1.xml" Id="Rcde8a223aa99432f" /><Relationship Type="http://schemas.openxmlformats.org/officeDocument/2006/relationships/notesMaster" Target="/ppt/notesMasters/notesMaster1.xml" Id="Raa9a1267e66d43c0" /><Relationship Type="http://schemas.openxmlformats.org/officeDocument/2006/relationships/presProps" Target="/ppt/presProps.xml" Id="R6d28f40dd35446e0" /><Relationship Type="http://schemas.openxmlformats.org/officeDocument/2006/relationships/viewProps" Target="/ppt/viewProps.xml" Id="Rbcecd9d48bbe4c88" /><Relationship Type="http://schemas.openxmlformats.org/officeDocument/2006/relationships/tableStyles" Target="/ppt/tableStyles.xml" Id="R7b46210ad2814106" /><Relationship Type="http://schemas.openxmlformats.org/officeDocument/2006/relationships/slide" Target="/ppt/slides/slide1.xml" Id="Re552a5f97ed74185" /><Relationship Type="http://schemas.openxmlformats.org/officeDocument/2006/relationships/slide" Target="/ppt/slides/slide2.xml" Id="R337f068b6daa4513" /><Relationship Type="http://schemas.openxmlformats.org/officeDocument/2006/relationships/slide" Target="/ppt/slides/slide3.xml" Id="Rd6a99e916f1a4e87" /><Relationship Type="http://schemas.openxmlformats.org/officeDocument/2006/relationships/slide" Target="/ppt/slides/slide4.xml" Id="R41e53cbb96d4498a" /><Relationship Type="http://schemas.openxmlformats.org/officeDocument/2006/relationships/slide" Target="/ppt/slides/slide5.xml" Id="R1099913414f74c8a" /><Relationship Type="http://schemas.openxmlformats.org/officeDocument/2006/relationships/slide" Target="/ppt/slides/slide6.xml" Id="Re76e06e13db54a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f8980d4b5c45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6e620cc12242fd" /><Relationship Type="http://schemas.openxmlformats.org/officeDocument/2006/relationships/notesMaster" Target="/ppt/notesMasters/notesMaster1.xml" Id="R6d04416c61884a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0f18079d0f4c87" /><Relationship Type="http://schemas.openxmlformats.org/officeDocument/2006/relationships/notesMaster" Target="/ppt/notesMasters/notesMaster1.xml" Id="R475d1f1fcf924c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00dd9f50f04929" /><Relationship Type="http://schemas.openxmlformats.org/officeDocument/2006/relationships/notesMaster" Target="/ppt/notesMasters/notesMaster1.xml" Id="Rc37bc66aa5e448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945ec901ca42d4" /><Relationship Type="http://schemas.openxmlformats.org/officeDocument/2006/relationships/notesMaster" Target="/ppt/notesMasters/notesMaster1.xml" Id="Rf17f5db37cec4d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158b2d13d7492c" /><Relationship Type="http://schemas.openxmlformats.org/officeDocument/2006/relationships/notesMaster" Target="/ppt/notesMasters/notesMaster1.xml" Id="Rf3e23caccb464e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b10f636d0e499b" /><Relationship Type="http://schemas.openxmlformats.org/officeDocument/2006/relationships/notesMaster" Target="/ppt/notesMasters/notesMaster1.xml" Id="R1bdef43d4d0b40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slide. Fill every field exactly as entered in the online application form so reviewers can match the deck to the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Reviewers look for a clearly defined, real and significant problem backed by evidence. One strong statistic is better than many weak ones. Cite the source for every number.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clearly how the solution addresses the problem on Slide 2. Compare against what exists today — reviewers score originality and relevance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realistic. A clear, costed plan with an identified adopting department scores better than an ambitious but vague one. Mention any validation already done (tests, user feedback, certifications).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Quantify impact wherever possible and state your assumptions. Where relevant, link the solution to an existing Government scheme, mission or the Sustainable Development Goals.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List only active team members. Be specific about the support requested — it helps the organisers match you with the right mentor, department or incubator.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bed1756c26400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d2e11b8ddb4e9d" /><Relationship Type="http://schemas.openxmlformats.org/officeDocument/2006/relationships/slideLayout" Target="/ppt/slideLayouts/slideLayout1.xml" Id="Rff981e6ce2ea417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981e6ce2ea417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f3b0c296143e0" /><Relationship Type="http://schemas.openxmlformats.org/officeDocument/2006/relationships/notesSlide" Target="/ppt/notesSlides/notesSlide1.xml" Id="R11d940e0bd9c42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0df1d0b3a44ca" /><Relationship Type="http://schemas.openxmlformats.org/officeDocument/2006/relationships/notesSlide" Target="/ppt/notesSlides/notesSlide2.xml" Id="Rcac973ff28a848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76ca54b2e48c1" /><Relationship Type="http://schemas.openxmlformats.org/officeDocument/2006/relationships/notesSlide" Target="/ppt/notesSlides/notesSlide3.xml" Id="Rbf2751082c8b43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ef2c7f29e4132" /><Relationship Type="http://schemas.openxmlformats.org/officeDocument/2006/relationships/notesSlide" Target="/ppt/notesSlides/notesSlide4.xml" Id="R09694673d2dc4d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a3fa9ec3743e3" /><Relationship Type="http://schemas.openxmlformats.org/officeDocument/2006/relationships/notesSlide" Target="/ppt/notesSlides/notesSlide5.xml" Id="R65dda648078743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7e785da484e65" /><Relationship Type="http://schemas.openxmlformats.org/officeDocument/2006/relationships/notesSlide" Target="/ppt/notesSlides/notesSlide6.xml" Id="R83eabdb783cc43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2A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C75F24F-29E5-46AB-9D57-F950B6E5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00">
                <a:solidFill>
                  <a:srgbClr val="F28C28"/>
                </a:solidFill>
                <a:latin typeface="Nirmala UI"/>
                <a:ea typeface="Nirmala UI"/>
                <a:cs typeface="Nirmala UI"/>
              </a:rPr>
              <a:t>SEVA INNOVATION CHALLENGE 2026  •  PROJECT PITCH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EA479A-74FF-4DC3-B8D1-6E861FA1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1520"/>
            <a:ext cx="52120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RoadSync</a:t>
            </a:r>
            <a:endParaRPr sz="2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97AAF3-B338-4162-9FD6-48322F5C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3080"/>
            <a:ext cx="4937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C9D2EC"/>
                </a:solidFill>
                <a:latin typeface="Nirmala UI"/>
                <a:ea typeface="Nirmala UI"/>
                <a:cs typeface="Nirmala UI"/>
              </a:rPr>
              <a:t>Verified road updates for travelers and agencies in Goa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5895137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FDEB13B-8DF7-4A19-8D6F-EF9677F7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47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26A5CAF-F106-4E43-B858-54F573F8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472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40" b="1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2</a:t>
            </a:r>
            <a:endParaRPr sz="154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463CA79-AAC5-407B-B6EC-1C522FFA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01752"/>
            <a:ext cx="6858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2A5C"/>
                </a:solidFill>
                <a:latin typeface="Nirmala UI"/>
                <a:ea typeface="Nirmala UI"/>
                <a:cs typeface="Nirmala UI"/>
              </a:rPr>
              <a:t>The Problem</a:t>
            </a:r>
            <a:endParaRPr sz="2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853E0CB-4862-4142-8F1E-E5EF7548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713232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6B7280"/>
                </a:solidFill>
                <a:latin typeface="Nirmala UI"/>
                <a:ea typeface="Nirmala UI"/>
                <a:cs typeface="Nirmala UI"/>
              </a:rPr>
              <a:t>Fragmented road updates leave travelers and agencies without one shared view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B7DC08E-C1FD-4043-ACA2-C2725F96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46320"/>
            <a:ext cx="3200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  <a:latin typeface="Nirmala UI"/>
                <a:ea typeface="Nirmala UI"/>
                <a:cs typeface="Nirmala UI"/>
              </a:rPr>
              <a:t>Seva Innovation Challenge 2026  |  Slide 2 of 6</a:t>
            </a:r>
            <a:endParaRPr sz="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04BBE78-7DAF-4264-9BFA-EE5DBB43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2743200" cy="16002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C0B2F84-E729-46EF-8A95-AC65AEC8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98448"/>
            <a:ext cx="2468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A5C"/>
                </a:solidFill>
                <a:latin typeface="Nirmala UI"/>
                <a:ea typeface="Nirmala UI"/>
                <a:cs typeface="Nirmala UI"/>
              </a:rPr>
              <a:t>What is the problem?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F345353-DA93-443F-B70B-E5C94E7F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72768"/>
            <a:ext cx="246888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B7280"/>
                </a:solidFill>
                <a:latin typeface="Nirmala UI"/>
                <a:ea typeface="Nirmala UI"/>
                <a:cs typeface="Nirmala UI"/>
              </a:rPr>
              <a:t>Incident and roadwork updates can sit across separate agency channels. Road users may not see a verified, timely picture of changing conditions.</a:t>
            </a:r>
            <a:endParaRPr sz="10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B90A028-C3B1-482D-889C-CFE5032D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188720"/>
            <a:ext cx="2743200" cy="16002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2BDF976-1C10-4EAB-B3C2-45599530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298448"/>
            <a:ext cx="2468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A5C"/>
                </a:solidFill>
                <a:latin typeface="Nirmala UI"/>
                <a:ea typeface="Nirmala UI"/>
                <a:cs typeface="Nirmala UI"/>
              </a:rPr>
              <a:t>Who is affected, and where?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C424C38-C9DC-400C-8514-67C37850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572768"/>
            <a:ext cx="246888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B7280"/>
                </a:solidFill>
                <a:latin typeface="Nirmala UI"/>
                <a:ea typeface="Nirmala UI"/>
                <a:cs typeface="Nirmala UI"/>
              </a:rPr>
              <a:t>Travelers and road agencies in Goa. RoadSync proposes to start with a pilot in Panaji.</a:t>
            </a:r>
            <a:endParaRPr sz="10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1F9BF5A-2733-452F-AA24-22805059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2743200" cy="164592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303851F-634B-49FF-8B94-7CE53257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081528"/>
            <a:ext cx="2468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A5C"/>
                </a:solidFill>
                <a:latin typeface="Nirmala UI"/>
                <a:ea typeface="Nirmala UI"/>
                <a:cs typeface="Nirmala UI"/>
              </a:rPr>
              <a:t>Evidence · Goa 2023–24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2C2DAA8-FC38-4F66-803A-2C76C6A4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355848"/>
            <a:ext cx="24688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B7280"/>
                </a:solidFill>
                <a:latin typeface="Nirmala UI"/>
                <a:ea typeface="Nirmala UI"/>
                <a:cs typeface="Nirmala UI"/>
              </a:rPr>
              <a:t>Goa reported 2,831 motor accident cases, 271 deaths and 1,193 injuries in 2023–24. These figures set the road-safety context for a pilot focused on timely road information.</a:t>
            </a:r>
            <a:endParaRPr sz="10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16E5E22-5DD7-4981-BC01-8BD16D04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971800"/>
            <a:ext cx="2743200" cy="164592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2B0A3C8-2D63-4992-83DD-DA6E98FA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081528"/>
            <a:ext cx="2468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A5C"/>
                </a:solidFill>
                <a:latin typeface="Nirmala UI"/>
                <a:ea typeface="Nirmala UI"/>
                <a:cs typeface="Nirmala UI"/>
              </a:rPr>
              <a:t>Current gaps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B631B0F-A0AD-4FE5-8506-A557EB90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355848"/>
            <a:ext cx="24688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B7280"/>
                </a:solidFill>
                <a:latin typeface="Nirmala UI"/>
                <a:ea typeface="Nirmala UI"/>
                <a:cs typeface="Nirmala UI"/>
              </a:rPr>
              <a:t>The project identifies fragmented reporting and limited shared visibility. The pilot will map current channels and measure reporting delays.</a:t>
            </a:r>
            <a:endParaRPr sz="10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46A9B7B-D8DA-4FA8-9AF1-DE708384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188720"/>
            <a:ext cx="2377440" cy="34290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1B2A5C"/>
          </a:solidFill>
          <a:ln xmlns:a="http://schemas.openxmlformats.org/drawingml/2006/main" w="12700">
            <a:solidFill>
              <a:srgbClr val="1B2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0CB73B2-A2A2-425B-AA25-DE32AF54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08760"/>
            <a:ext cx="21945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28C28"/>
                </a:solidFill>
                <a:latin typeface="Nirmala UI"/>
                <a:ea typeface="Nirmala UI"/>
                <a:cs typeface="Nirmala UI"/>
              </a:rPr>
              <a:t>2,831</a:t>
            </a:r>
            <a:endParaRPr sz="2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0EDDF6F-2C7D-417F-8C96-4B8D5137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86000"/>
            <a:ext cx="2011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motor accident cases reported in Goa, 2023–24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0DC8ECC-5FC3-4483-81C0-D6EB8EAE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1089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28C28"/>
                </a:solidFill>
                <a:latin typeface="Nirmala UI"/>
                <a:ea typeface="Nirmala UI"/>
                <a:cs typeface="Nirmala UI"/>
              </a:rPr>
              <a:t>Why it matters</a:t>
            </a:r>
            <a:endParaRPr sz="11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7A5D8A-62BC-4D76-BC49-F45AFF5B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383280"/>
            <a:ext cx="20116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C9D2EC"/>
                </a:solidFill>
                <a:latin typeface="Nirmala UI"/>
                <a:ea typeface="Nirmala UI"/>
                <a:cs typeface="Nirmala UI"/>
              </a:rPr>
              <a:t>A delayed or unverified update gives travelers and response teams less time to make informed decisions.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363675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EEFA99F-512C-4CF7-8DB4-3DED8DAD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47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1D0A0B8-8C34-48EE-BA1E-7FD266F4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472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40" b="1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3</a:t>
            </a:r>
            <a:endParaRPr sz="154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27BF920-3F28-4DD4-BBE0-9AD481B7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01752"/>
            <a:ext cx="6858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2A5C"/>
                </a:solidFill>
                <a:latin typeface="Nirmala UI"/>
                <a:ea typeface="Nirmala UI"/>
                <a:cs typeface="Nirmala UI"/>
              </a:rPr>
              <a:t>Our Solution &amp; Innovation</a:t>
            </a:r>
            <a:endParaRPr sz="2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3233FCE-459C-4B9A-8C70-4A359E0A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713232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6B7280"/>
                </a:solidFill>
                <a:latin typeface="Nirmala UI"/>
                <a:ea typeface="Nirmala UI"/>
                <a:cs typeface="Nirmala UI"/>
              </a:rPr>
              <a:t>A shared report, review and public update workflow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A52158-B2DF-466F-953A-F24C1496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46320"/>
            <a:ext cx="3200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  <a:latin typeface="Nirmala UI"/>
                <a:ea typeface="Nirmala UI"/>
                <a:cs typeface="Nirmala UI"/>
              </a:rPr>
              <a:t>Seva Innovation Challenge 2026  |  Slide 3 of 6</a:t>
            </a:r>
            <a:endParaRPr sz="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98D4501-A5F8-4B96-B337-A7454C18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5C"/>
                </a:solidFill>
                <a:latin typeface="Nirmala UI"/>
                <a:ea typeface="Nirmala UI"/>
                <a:cs typeface="Nirmala UI"/>
              </a:rPr>
              <a:t>Our solution in brief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79B80FF-2DF1-46BF-AFA8-55769C99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1328"/>
            <a:ext cx="3931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6B7280"/>
                </a:solidFill>
                <a:latin typeface="Nirmala UI"/>
                <a:ea typeface="Nirmala UI"/>
                <a:cs typeface="Nirmala UI"/>
              </a:rPr>
              <a:t>RoadSync connects agency reporting to a public road map. Police and PWD submit location-based reports; an authority reviews them before publication. Travelers see approved active incidents and roadwork.</a:t>
            </a:r>
            <a:endParaRPr sz="10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ADE0758-C11F-470A-95C7-0EE8DBD3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5C"/>
                </a:solidFill>
                <a:latin typeface="Nirmala UI"/>
                <a:ea typeface="Nirmala UI"/>
                <a:cs typeface="Nirmala UI"/>
              </a:rPr>
              <a:t>How it works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D13291C-EE99-46F8-8632-43D0444D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912"/>
            <a:ext cx="1170432" cy="178308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DEBD7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F84E505-1860-4256-ADDC-8D682577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8346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DA32C36-F18D-4A5B-BAE9-98B5A76F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8346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20" b="1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1</a:t>
            </a:r>
            <a:endParaRPr sz="11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110096A-07E8-4CA7-8BBC-3818969A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73552"/>
            <a:ext cx="10241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B2A5C"/>
                </a:solidFill>
                <a:latin typeface="Nirmala UI"/>
                <a:ea typeface="Nirmala UI"/>
                <a:cs typeface="Nirmala UI"/>
              </a:rPr>
              <a:t>Input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7CFB4F1-502D-48EF-B1C7-DB7F05C7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66160"/>
            <a:ext cx="98755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6B7280"/>
                </a:solidFill>
                <a:latin typeface="Nirmala UI"/>
                <a:ea typeface="Nirmala UI"/>
                <a:cs typeface="Nirmala UI"/>
              </a:rPr>
              <a:t>Agency report with type, place and time</a:t>
            </a:r>
            <a:endParaRPr sz="9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51E9479-C83A-43DF-B0C9-DB4DC978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3291840"/>
            <a:ext cx="20116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28C28"/>
                </a:solidFill>
                <a:latin typeface="Nirmala UI"/>
                <a:ea typeface="Nirmala UI"/>
                <a:cs typeface="Nirmala UI"/>
              </a:rPr>
              <a:t>›</a:t>
            </a:r>
            <a:endParaRPr sz="2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9694C1E-D951-4646-90CC-4BFB6F73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724912"/>
            <a:ext cx="1170432" cy="178308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DEBD7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3E82540-C8B1-480F-B7AA-03BE7C80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136" y="28346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9B9316C-FD52-4C2A-BA41-32F4AB49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136" y="28346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20" b="1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2</a:t>
            </a:r>
            <a:endParaRPr sz="112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B6B1A04-4B67-4B96-BEC9-78346E18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273552"/>
            <a:ext cx="10241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B2A5C"/>
                </a:solidFill>
                <a:latin typeface="Nirmala UI"/>
                <a:ea typeface="Nirmala UI"/>
                <a:cs typeface="Nirmala UI"/>
              </a:rPr>
              <a:t>Process</a:t>
            </a:r>
            <a:endParaRPr sz="11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5C9C25F-512B-4A44-9FDF-8AF4C114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566160"/>
            <a:ext cx="98755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6B7280"/>
                </a:solidFill>
                <a:latin typeface="Nirmala UI"/>
                <a:ea typeface="Nirmala UI"/>
                <a:cs typeface="Nirmala UI"/>
              </a:rPr>
              <a:t>Authority reviews and publishes approved reports</a:t>
            </a:r>
            <a:endParaRPr sz="9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D1527FE-8127-43F8-9961-4DFCC301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3291840"/>
            <a:ext cx="20116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28C28"/>
                </a:solidFill>
                <a:latin typeface="Nirmala UI"/>
                <a:ea typeface="Nirmala UI"/>
                <a:cs typeface="Nirmala UI"/>
              </a:rPr>
              <a:t>›</a:t>
            </a:r>
            <a:endParaRPr sz="22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42CA443-908F-4B72-B49D-2C34AAB7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24912"/>
            <a:ext cx="1170432" cy="178308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DEBD7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48A9DE9-4633-4BE5-9286-6E9DCAF0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28346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B290919-A271-4DE4-9223-F1B2C0C9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28346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20" b="1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3</a:t>
            </a:r>
            <a:endParaRPr sz="112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C535426-16E7-4850-AF52-68E07752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3273552"/>
            <a:ext cx="10241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B2A5C"/>
                </a:solidFill>
                <a:latin typeface="Nirmala UI"/>
                <a:ea typeface="Nirmala UI"/>
                <a:cs typeface="Nirmala UI"/>
              </a:rPr>
              <a:t>Output</a:t>
            </a:r>
            <a:endParaRPr sz="11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E591110-F1B4-4A81-A562-A2047309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566160"/>
            <a:ext cx="98755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6B7280"/>
                </a:solidFill>
                <a:latin typeface="Nirmala UI"/>
                <a:ea typeface="Nirmala UI"/>
                <a:cs typeface="Nirmala UI"/>
              </a:rPr>
              <a:t>Travelers see verified active road updates</a:t>
            </a:r>
            <a:endParaRPr sz="9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21578FD-CDAC-4E92-A622-995ACB57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188720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5C"/>
                </a:solidFill>
                <a:latin typeface="Nirmala UI"/>
                <a:ea typeface="Nirmala UI"/>
                <a:cs typeface="Nirmala UI"/>
              </a:rPr>
              <a:t>What makes it new?</a:t>
            </a:r>
            <a:endParaRPr sz="1300"/>
          </a:p>
        </p:txBody>
      </p:sp>
      <p:graphicFrame>
        <p:nvGraphicFramePr>
          <p:cNvPr id="58" name="Table 0"/>
          <p:cNvGraphicFramePr/>
          <p:nvPr/>
        </p:nvGraphicFramePr>
        <p:xfrm>
          <a:off xmlns:a="http://schemas.openxmlformats.org/drawingml/2006/main" x="4754880" y="1536192"/>
          <a:ext xmlns:a="http://schemas.openxmlformats.org/drawingml/2006/main" cx="3931920" cy="19202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8872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000">
                        <a:latin typeface="Nirmala UI"/>
                        <a:ea typeface="Nirmala UI"/>
                        <a:cs typeface="Nirmala U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9DEEA"/>
                      </a:solidFill>
                      <a:prstDash val="solid"/>
                    </a:lnL>
                    <a:lnR w="6350" cmpd="sng">
                      <a:solidFill>
                        <a:srgbClr val="D9DEEA"/>
                      </a:solidFill>
                      <a:prstDash val="solid"/>
                    </a:lnR>
                    <a:lnT w="6350" cmpd="sng">
                      <a:solidFill>
                        <a:srgbClr val="D9DEEA"/>
                      </a:solidFill>
                      <a:prstDash val="solid"/>
                    </a:lnT>
                    <a:lnB w="6350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Nirmala UI"/>
                          <a:ea typeface="Nirmala UI"/>
                          <a:cs typeface="Nirmala UI"/>
                        </a:rPr>
                        <a:t>Existing approach</a:t>
                      </a:r>
                      <a:endParaRPr sz="1000">
                        <a:latin typeface="Nirmala UI"/>
                        <a:ea typeface="Nirmala UI"/>
                        <a:cs typeface="Nirmala U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9DEEA"/>
                      </a:solidFill>
                      <a:prstDash val="solid"/>
                    </a:lnL>
                    <a:lnR w="6350" cmpd="sng">
                      <a:solidFill>
                        <a:srgbClr val="D9DEEA"/>
                      </a:solidFill>
                      <a:prstDash val="solid"/>
                    </a:lnR>
                    <a:lnT w="6350" cmpd="sng">
                      <a:solidFill>
                        <a:srgbClr val="D9DEEA"/>
                      </a:solidFill>
                      <a:prstDash val="solid"/>
                    </a:lnT>
                    <a:lnB w="6350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Nirmala UI"/>
                          <a:ea typeface="Nirmala UI"/>
                          <a:cs typeface="Nirmala UI"/>
                        </a:rPr>
                        <a:t>Our approach</a:t>
                      </a:r>
                      <a:endParaRPr sz="1000">
                        <a:latin typeface="Nirmala UI"/>
                        <a:ea typeface="Nirmala UI"/>
                        <a:cs typeface="Nirmala U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9DEEA"/>
                      </a:solidFill>
                      <a:prstDash val="solid"/>
                    </a:lnL>
                    <a:lnR w="6350" cmpd="sng">
                      <a:solidFill>
                        <a:srgbClr val="D9DEEA"/>
                      </a:solidFill>
                      <a:prstDash val="solid"/>
                    </a:lnR>
                    <a:lnT w="6350" cmpd="sng">
                      <a:solidFill>
                        <a:srgbClr val="D9DEEA"/>
                      </a:solidFill>
                      <a:prstDash val="solid"/>
                    </a:lnT>
                    <a:lnB w="6350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28C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B2A5C"/>
                          </a:solidFill>
                          <a:latin typeface="Nirmala UI"/>
                          <a:ea typeface="Nirmala UI"/>
                          <a:cs typeface="Nirmala UI"/>
                        </a:rPr>
                        <a:t>Cost</a:t>
                      </a:r>
                      <a:endParaRPr sz="1000">
                        <a:latin typeface="Nirmala UI"/>
                        <a:ea typeface="Nirmala UI"/>
                        <a:cs typeface="Nirmala U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9DEEA"/>
                      </a:solidFill>
                      <a:prstDash val="solid"/>
                    </a:lnL>
                    <a:lnR w="6350" cmpd="sng">
                      <a:solidFill>
                        <a:srgbClr val="D9DEEA"/>
                      </a:solidFill>
                      <a:prstDash val="solid"/>
                    </a:lnR>
                    <a:lnT w="6350" cmpd="sng">
                      <a:solidFill>
                        <a:srgbClr val="D9DEEA"/>
                      </a:solidFill>
                      <a:prstDash val="solid"/>
                    </a:lnT>
                    <a:lnB w="6350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i="1">
                          <a:solidFill>
                            <a:srgbClr val="6B7280"/>
                          </a:solidFill>
                          <a:latin typeface="Nirmala UI"/>
                          <a:ea typeface="Nirmala UI"/>
                          <a:cs typeface="Nirmala UI"/>
                        </a:rPr>
                        <a:t>[₹ ___]</a:t>
                      </a:r>
                      <a:endParaRPr sz="1000">
                        <a:latin typeface="Nirmala UI"/>
                        <a:ea typeface="Nirmala UI"/>
                        <a:cs typeface="Nirmala U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9DEEA"/>
                      </a:solidFill>
                      <a:prstDash val="solid"/>
                    </a:lnL>
                    <a:lnR w="6350" cmpd="sng">
                      <a:solidFill>
                        <a:srgbClr val="D9DEEA"/>
                      </a:solidFill>
                      <a:prstDash val="solid"/>
                    </a:lnR>
                    <a:lnT w="6350" cmpd="sng">
                      <a:solidFill>
                        <a:srgbClr val="D9DEEA"/>
                      </a:solidFill>
                      <a:prstDash val="solid"/>
                    </a:lnT>
                    <a:lnB w="6350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i="1">
                          <a:solidFill>
                            <a:srgbClr val="6B7280"/>
                          </a:solidFill>
                          <a:latin typeface="Nirmala UI"/>
                          <a:ea typeface="Nirmala UI"/>
                          <a:cs typeface="Nirmala UI"/>
                        </a:rPr>
                        <a:t>[₹ ___]</a:t>
                      </a:r>
                      <a:endParaRPr sz="1000">
                        <a:latin typeface="Nirmala UI"/>
                        <a:ea typeface="Nirmala UI"/>
                        <a:cs typeface="Nirmala U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9DEEA"/>
                      </a:solidFill>
                      <a:prstDash val="solid"/>
                    </a:lnL>
                    <a:lnR w="6350" cmpd="sng">
                      <a:solidFill>
                        <a:srgbClr val="D9DEEA"/>
                      </a:solidFill>
                      <a:prstDash val="solid"/>
                    </a:lnR>
                    <a:lnT w="6350" cmpd="sng">
                      <a:solidFill>
                        <a:srgbClr val="D9DEEA"/>
                      </a:solidFill>
                      <a:prstDash val="solid"/>
                    </a:lnT>
                    <a:lnB w="6350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B2A5C"/>
                          </a:solidFill>
                          <a:latin typeface="Nirmala UI"/>
                          <a:ea typeface="Nirmala UI"/>
                          <a:cs typeface="Nirmala UI"/>
                        </a:rPr>
                        <a:t>Speed / time</a:t>
                      </a:r>
                      <a:endParaRPr sz="1000">
                        <a:latin typeface="Nirmala UI"/>
                        <a:ea typeface="Nirmala UI"/>
                        <a:cs typeface="Nirmala U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9DEEA"/>
                      </a:solidFill>
                      <a:prstDash val="solid"/>
                    </a:lnL>
                    <a:lnR w="6350" cmpd="sng">
                      <a:solidFill>
                        <a:srgbClr val="D9DEEA"/>
                      </a:solidFill>
                      <a:prstDash val="solid"/>
                    </a:lnR>
                    <a:lnT w="6350" cmpd="sng">
                      <a:solidFill>
                        <a:srgbClr val="D9DEEA"/>
                      </a:solidFill>
                      <a:prstDash val="solid"/>
                    </a:lnT>
                    <a:lnB w="6350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i="1">
                          <a:solidFill>
                            <a:srgbClr val="6B7280"/>
                          </a:solidFill>
                          <a:latin typeface="Nirmala UI"/>
                          <a:ea typeface="Nirmala UI"/>
                          <a:cs typeface="Nirmala UI"/>
                        </a:rPr>
                        <a:t>[___]</a:t>
                      </a:r>
                      <a:endParaRPr sz="1000">
                        <a:latin typeface="Nirmala UI"/>
                        <a:ea typeface="Nirmala UI"/>
                        <a:cs typeface="Nirmala U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9DEEA"/>
                      </a:solidFill>
                      <a:prstDash val="solid"/>
                    </a:lnL>
                    <a:lnR w="6350" cmpd="sng">
                      <a:solidFill>
                        <a:srgbClr val="D9DEEA"/>
                      </a:solidFill>
                      <a:prstDash val="solid"/>
                    </a:lnR>
                    <a:lnT w="6350" cmpd="sng">
                      <a:solidFill>
                        <a:srgbClr val="D9DEEA"/>
                      </a:solidFill>
                      <a:prstDash val="solid"/>
                    </a:lnT>
                    <a:lnB w="6350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i="1">
                          <a:solidFill>
                            <a:srgbClr val="6B7280"/>
                          </a:solidFill>
                          <a:latin typeface="Nirmala UI"/>
                          <a:ea typeface="Nirmala UI"/>
                          <a:cs typeface="Nirmala UI"/>
                        </a:rPr>
                        <a:t>[___]</a:t>
                      </a:r>
                      <a:endParaRPr sz="1000">
                        <a:latin typeface="Nirmala UI"/>
                        <a:ea typeface="Nirmala UI"/>
                        <a:cs typeface="Nirmala U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9DEEA"/>
                      </a:solidFill>
                      <a:prstDash val="solid"/>
                    </a:lnL>
                    <a:lnR w="6350" cmpd="sng">
                      <a:solidFill>
                        <a:srgbClr val="D9DEEA"/>
                      </a:solidFill>
                      <a:prstDash val="solid"/>
                    </a:lnR>
                    <a:lnT w="6350" cmpd="sng">
                      <a:solidFill>
                        <a:srgbClr val="D9DEEA"/>
                      </a:solidFill>
                      <a:prstDash val="solid"/>
                    </a:lnT>
                    <a:lnB w="6350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B2A5C"/>
                          </a:solidFill>
                          <a:latin typeface="Nirmala UI"/>
                          <a:ea typeface="Nirmala UI"/>
                          <a:cs typeface="Nirmala UI"/>
                        </a:rPr>
                        <a:t>Reach / access</a:t>
                      </a:r>
                      <a:endParaRPr sz="1000">
                        <a:latin typeface="Nirmala UI"/>
                        <a:ea typeface="Nirmala UI"/>
                        <a:cs typeface="Nirmala U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9DEEA"/>
                      </a:solidFill>
                      <a:prstDash val="solid"/>
                    </a:lnL>
                    <a:lnR w="6350" cmpd="sng">
                      <a:solidFill>
                        <a:srgbClr val="D9DEEA"/>
                      </a:solidFill>
                      <a:prstDash val="solid"/>
                    </a:lnR>
                    <a:lnT w="6350" cmpd="sng">
                      <a:solidFill>
                        <a:srgbClr val="D9DEEA"/>
                      </a:solidFill>
                      <a:prstDash val="solid"/>
                    </a:lnT>
                    <a:lnB w="6350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i="1">
                          <a:solidFill>
                            <a:srgbClr val="6B7280"/>
                          </a:solidFill>
                          <a:latin typeface="Nirmala UI"/>
                          <a:ea typeface="Nirmala UI"/>
                          <a:cs typeface="Nirmala UI"/>
                        </a:rPr>
                        <a:t>[___]</a:t>
                      </a:r>
                      <a:endParaRPr sz="1000">
                        <a:latin typeface="Nirmala UI"/>
                        <a:ea typeface="Nirmala UI"/>
                        <a:cs typeface="Nirmala U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9DEEA"/>
                      </a:solidFill>
                      <a:prstDash val="solid"/>
                    </a:lnL>
                    <a:lnR w="6350" cmpd="sng">
                      <a:solidFill>
                        <a:srgbClr val="D9DEEA"/>
                      </a:solidFill>
                      <a:prstDash val="solid"/>
                    </a:lnR>
                    <a:lnT w="6350" cmpd="sng">
                      <a:solidFill>
                        <a:srgbClr val="D9DEEA"/>
                      </a:solidFill>
                      <a:prstDash val="solid"/>
                    </a:lnT>
                    <a:lnB w="6350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i="1">
                          <a:solidFill>
                            <a:srgbClr val="6B7280"/>
                          </a:solidFill>
                          <a:latin typeface="Nirmala UI"/>
                          <a:ea typeface="Nirmala UI"/>
                          <a:cs typeface="Nirmala UI"/>
                        </a:rPr>
                        <a:t>[___]</a:t>
                      </a:r>
                      <a:endParaRPr sz="1000">
                        <a:latin typeface="Nirmala UI"/>
                        <a:ea typeface="Nirmala UI"/>
                        <a:cs typeface="Nirmala U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9DEEA"/>
                      </a:solidFill>
                      <a:prstDash val="solid"/>
                    </a:lnL>
                    <a:lnR w="6350" cmpd="sng">
                      <a:solidFill>
                        <a:srgbClr val="D9DEEA"/>
                      </a:solidFill>
                      <a:prstDash val="solid"/>
                    </a:lnR>
                    <a:lnT w="6350" cmpd="sng">
                      <a:solidFill>
                        <a:srgbClr val="D9DEEA"/>
                      </a:solidFill>
                      <a:prstDash val="solid"/>
                    </a:lnT>
                    <a:lnB w="6350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B2A5C"/>
                          </a:solidFill>
                          <a:latin typeface="Nirmala UI"/>
                          <a:ea typeface="Nirmala UI"/>
                          <a:cs typeface="Nirmala UI"/>
                        </a:rPr>
                        <a:t>Ease of use</a:t>
                      </a:r>
                      <a:endParaRPr sz="1000">
                        <a:latin typeface="Nirmala UI"/>
                        <a:ea typeface="Nirmala UI"/>
                        <a:cs typeface="Nirmala U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9DEEA"/>
                      </a:solidFill>
                      <a:prstDash val="solid"/>
                    </a:lnL>
                    <a:lnR w="6350" cmpd="sng">
                      <a:solidFill>
                        <a:srgbClr val="D9DEEA"/>
                      </a:solidFill>
                      <a:prstDash val="solid"/>
                    </a:lnR>
                    <a:lnT w="6350" cmpd="sng">
                      <a:solidFill>
                        <a:srgbClr val="D9DEEA"/>
                      </a:solidFill>
                      <a:prstDash val="solid"/>
                    </a:lnT>
                    <a:lnB w="6350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i="1">
                          <a:solidFill>
                            <a:srgbClr val="6B7280"/>
                          </a:solidFill>
                          <a:latin typeface="Nirmala UI"/>
                          <a:ea typeface="Nirmala UI"/>
                          <a:cs typeface="Nirmala UI"/>
                        </a:rPr>
                        <a:t>[___]</a:t>
                      </a:r>
                      <a:endParaRPr sz="1000">
                        <a:latin typeface="Nirmala UI"/>
                        <a:ea typeface="Nirmala UI"/>
                        <a:cs typeface="Nirmala U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9DEEA"/>
                      </a:solidFill>
                      <a:prstDash val="solid"/>
                    </a:lnL>
                    <a:lnR w="6350" cmpd="sng">
                      <a:solidFill>
                        <a:srgbClr val="D9DEEA"/>
                      </a:solidFill>
                      <a:prstDash val="solid"/>
                    </a:lnR>
                    <a:lnT w="6350" cmpd="sng">
                      <a:solidFill>
                        <a:srgbClr val="D9DEEA"/>
                      </a:solidFill>
                      <a:prstDash val="solid"/>
                    </a:lnT>
                    <a:lnB w="6350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i="1">
                          <a:solidFill>
                            <a:srgbClr val="6B7280"/>
                          </a:solidFill>
                          <a:latin typeface="Nirmala UI"/>
                          <a:ea typeface="Nirmala UI"/>
                          <a:cs typeface="Nirmala UI"/>
                        </a:rPr>
                        <a:t>[___]</a:t>
                      </a:r>
                      <a:endParaRPr sz="1000">
                        <a:latin typeface="Nirmala UI"/>
                        <a:ea typeface="Nirmala UI"/>
                        <a:cs typeface="Nirmala U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9DEEA"/>
                      </a:solidFill>
                      <a:prstDash val="solid"/>
                    </a:lnL>
                    <a:lnR w="6350" cmpd="sng">
                      <a:solidFill>
                        <a:srgbClr val="D9DEEA"/>
                      </a:solidFill>
                      <a:prstDash val="solid"/>
                    </a:lnR>
                    <a:lnT w="6350" cmpd="sng">
                      <a:solidFill>
                        <a:srgbClr val="D9DEEA"/>
                      </a:solidFill>
                      <a:prstDash val="solid"/>
                    </a:lnT>
                    <a:lnB w="6350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1983BF33-BF7A-465E-B3BE-ABB10CA5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611880"/>
            <a:ext cx="3931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A5C"/>
                </a:solidFill>
                <a:latin typeface="Nirmala UI"/>
                <a:ea typeface="Nirmala UI"/>
                <a:cs typeface="Nirmala UI"/>
              </a:rPr>
              <a:t>Key USP</a:t>
            </a:r>
            <a:endParaRPr sz="12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B835F6A-2C81-411A-8D8A-E68F5CB8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886200"/>
            <a:ext cx="3931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B7280"/>
                </a:solidFill>
                <a:latin typeface="Nirmala UI"/>
                <a:ea typeface="Nirmala UI"/>
                <a:cs typeface="Nirmala UI"/>
              </a:rPr>
              <a:t>A shared review queue links agency reports to a public map. This prototype uses sample data; live government and emergency connections remain future work.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746692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0A58CE5-5193-4C9F-9CEC-81749A71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47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D66E6BE-DF58-41B3-87C1-6F86711F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472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40" b="1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4</a:t>
            </a:r>
            <a:endParaRPr sz="154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7D8EE77-7F34-4909-882C-8E2B5E4C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01752"/>
            <a:ext cx="6858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2A5C"/>
                </a:solidFill>
                <a:latin typeface="Nirmala UI"/>
                <a:ea typeface="Nirmala UI"/>
                <a:cs typeface="Nirmala UI"/>
              </a:rPr>
              <a:t>Feasibility &amp; Implementation</a:t>
            </a:r>
            <a:endParaRPr sz="2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7507BC5-FE0E-4048-B519-730D649A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713232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6B7280"/>
                </a:solidFill>
                <a:latin typeface="Nirmala UI"/>
                <a:ea typeface="Nirmala UI"/>
                <a:cs typeface="Nirmala UI"/>
              </a:rPr>
              <a:t>How ready is the solution, and what will it take to implement it on the ground?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F32C96B-C65B-4A11-AA56-DE457EA0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46320"/>
            <a:ext cx="3200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  <a:latin typeface="Nirmala UI"/>
                <a:ea typeface="Nirmala UI"/>
                <a:cs typeface="Nirmala UI"/>
              </a:rPr>
              <a:t>Seva Innovation Challenge 2026  |  Slide 4 of 6</a:t>
            </a:r>
            <a:endParaRPr sz="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ED856CB-B5FC-4E8B-9A0B-AC76FCFC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0432"/>
            <a:ext cx="8229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A5C"/>
                </a:solidFill>
                <a:latin typeface="Nirmala UI"/>
                <a:ea typeface="Nirmala UI"/>
                <a:cs typeface="Nirmala UI"/>
              </a:rPr>
              <a:t>Current stage: Working Prototype · local demo</a:t>
            </a:r>
            <a:endParaRPr sz="1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5020781-5DDB-40B9-95DD-91E1BD24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731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C3C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54DD17F-9032-4F8F-9F3A-722E708F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62763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F28C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C1B60D6-C9A5-4FCD-AE91-333D616A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2011680"/>
            <a:ext cx="1463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F2937"/>
                </a:solidFill>
                <a:latin typeface="Nirmala UI"/>
                <a:ea typeface="Nirmala UI"/>
                <a:cs typeface="Nirmala UI"/>
              </a:rPr>
              <a:t>Idea</a:t>
            </a:r>
            <a:endParaRPr sz="10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0805388-B62D-46C9-BBE6-C2DC0C87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752" y="162763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F28C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1E1BAE9-C651-4E1A-ACE6-1F3841E8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011680"/>
            <a:ext cx="1463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F2937"/>
                </a:solidFill>
                <a:latin typeface="Nirmala UI"/>
                <a:ea typeface="Nirmala UI"/>
                <a:cs typeface="Nirmala UI"/>
              </a:rPr>
              <a:t>Proof of Concept</a:t>
            </a:r>
            <a:endParaRPr sz="10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05B4F1E-E4B4-4F51-9C2E-D12E6F01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62763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F28C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9C82A06-9603-4857-8F11-172EE255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2011680"/>
            <a:ext cx="1463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F2937"/>
                </a:solidFill>
                <a:latin typeface="Nirmala UI"/>
                <a:ea typeface="Nirmala UI"/>
                <a:cs typeface="Nirmala UI"/>
              </a:rPr>
              <a:t>Working Prototype</a:t>
            </a:r>
            <a:endParaRPr sz="10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40256DC-0623-447F-A2AB-7FCB9E3E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62763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F28C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784A661-46F1-42CF-8A3D-2AFDC8F8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011680"/>
            <a:ext cx="1463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F2937"/>
                </a:solidFill>
                <a:latin typeface="Nirmala UI"/>
                <a:ea typeface="Nirmala UI"/>
                <a:cs typeface="Nirmala UI"/>
              </a:rPr>
              <a:t>Field Pilot</a:t>
            </a:r>
            <a:endParaRPr sz="10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F80080EF-61CB-4D05-8E01-A18402BE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162763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F28C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612862A-E8C8-45E2-B420-DCE2D33E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011680"/>
            <a:ext cx="1463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F2937"/>
                </a:solidFill>
                <a:latin typeface="Nirmala UI"/>
                <a:ea typeface="Nirmala UI"/>
                <a:cs typeface="Nirmala UI"/>
              </a:rPr>
              <a:t>Ready to Deploy</a:t>
            </a:r>
            <a:endParaRPr sz="10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2A4BAEF-2281-42AE-A8AF-4116BDF5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920240" cy="210312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89AEBEA-CD7C-4BB5-A72E-62DA072A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24328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A5C"/>
                </a:solidFill>
                <a:latin typeface="Nirmala UI"/>
                <a:ea typeface="Nirmala UI"/>
                <a:cs typeface="Nirmala UI"/>
              </a:rPr>
              <a:t>Technology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46B5734-002A-4AB2-816C-49964048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898648"/>
            <a:ext cx="16459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B7280"/>
                </a:solidFill>
                <a:latin typeface="Nirmala UI"/>
                <a:ea typeface="Nirmala UI"/>
                <a:cs typeface="Nirmala UI"/>
              </a:rPr>
              <a:t>Built: browser-based interface and role workflows. Pilot needs secure hosting, verified agency access, shared storage, audit logs and onboarding.</a:t>
            </a:r>
            <a:endParaRPr sz="10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B623E85-577A-4DCA-B58D-DD27C29A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2514600"/>
            <a:ext cx="1920240" cy="210312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3140C81-D22A-4C7C-AEC1-C93F6FC5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2624328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A5C"/>
                </a:solidFill>
                <a:latin typeface="Nirmala UI"/>
                <a:ea typeface="Nirmala UI"/>
                <a:cs typeface="Nirmala UI"/>
              </a:rPr>
              <a:t>Estimated cost</a:t>
            </a:r>
            <a:endParaRPr sz="12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860D38D-2A1D-40B6-B7F8-B0D83AEB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2898648"/>
            <a:ext cx="16459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B7280"/>
                </a:solidFill>
                <a:latin typeface="Nirmala UI"/>
                <a:ea typeface="Nirmala UI"/>
                <a:cs typeface="Nirmala UI"/>
              </a:rPr>
              <a:t>Not estimated yet. Scope the secure build, hosting, training and support with the pilot agency before setting a grant amount.</a:t>
            </a:r>
            <a:endParaRPr sz="10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17FAB76-D306-45A8-A468-825D362D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514600"/>
            <a:ext cx="1920240" cy="210312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30AA14F-1D50-464B-8121-8782B4FA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24328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A5C"/>
                </a:solidFill>
                <a:latin typeface="Nirmala UI"/>
                <a:ea typeface="Nirmala UI"/>
                <a:cs typeface="Nirmala UI"/>
              </a:rPr>
              <a:t>Timeline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43DF961-F0BD-4030-B4DC-AAB29E9C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98648"/>
            <a:ext cx="16459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B7280"/>
                </a:solidFill>
                <a:latin typeface="Nirmala UI"/>
                <a:ea typeface="Nirmala UI"/>
                <a:cs typeface="Nirmala UI"/>
              </a:rPr>
              <a:t>3 months: baseline and Panaji pilot. 6 months: review timing measures and improve the workflow. 12 months: decide whether to expand.</a:t>
            </a:r>
            <a:endParaRPr sz="10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BF589656-E9F0-4901-B978-801CE820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514600"/>
            <a:ext cx="1920240" cy="210312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CBF1C23-2517-485A-B7E9-EC8F01B2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624328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A5C"/>
                </a:solidFill>
                <a:latin typeface="Nirmala UI"/>
                <a:ea typeface="Nirmala UI"/>
                <a:cs typeface="Nirmala UI"/>
              </a:rPr>
              <a:t>Proposed partner</a:t>
            </a:r>
            <a:endParaRPr sz="12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22765186-D49A-47CF-8DE0-305DDF7B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898648"/>
            <a:ext cx="16459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B7280"/>
                </a:solidFill>
                <a:latin typeface="Nirmala UI"/>
                <a:ea typeface="Nirmala UI"/>
                <a:cs typeface="Nirmala UI"/>
              </a:rPr>
              <a:t>Goa Traffic Police for the first Panaji pilot. Participation and authorization are not yet confirmed.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6655965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69DE678-CE00-4BA7-80B7-D676C6A5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47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C5DC227-E089-4B9D-980F-07A695F4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472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40" b="1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5</a:t>
            </a:r>
            <a:endParaRPr sz="154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97812A1-260D-4695-B7B2-BCDBE324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01752"/>
            <a:ext cx="6858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2A5C"/>
                </a:solidFill>
                <a:latin typeface="Nirmala UI"/>
                <a:ea typeface="Nirmala UI"/>
                <a:cs typeface="Nirmala UI"/>
              </a:rPr>
              <a:t>Impact &amp; Scalability</a:t>
            </a:r>
            <a:endParaRPr sz="2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723B476-9A73-426F-9DED-B0405EA4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713232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6B7280"/>
                </a:solidFill>
                <a:latin typeface="Nirmala UI"/>
                <a:ea typeface="Nirmala UI"/>
                <a:cs typeface="Nirmala UI"/>
              </a:rPr>
              <a:t>What change will your solution create, and how can it grow beyond the first location?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FAC6162-1175-42B3-8E31-D20496D5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46320"/>
            <a:ext cx="3200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  <a:latin typeface="Nirmala UI"/>
                <a:ea typeface="Nirmala UI"/>
                <a:cs typeface="Nirmala UI"/>
              </a:rPr>
              <a:t>Seva Innovation Challenge 2026  |  Slide 5 of 6</a:t>
            </a:r>
            <a:endParaRPr sz="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4DBBEBE-6F93-47DE-9295-834E3C99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2606040" cy="1463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DEBD7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79F688E-9990-495E-9AA8-3F6E6B2F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2423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B2A5C"/>
                </a:solidFill>
                <a:latin typeface="Nirmala UI"/>
                <a:ea typeface="Nirmala UI"/>
                <a:cs typeface="Nirmala UI"/>
              </a:rPr>
              <a:t>Panaji</a:t>
            </a:r>
            <a:endParaRPr sz="3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C7E5618-2622-4D25-AC3B-F8E61482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38528"/>
            <a:ext cx="2423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F2937"/>
                </a:solidFill>
                <a:latin typeface="Nirmala UI"/>
                <a:ea typeface="Nirmala UI"/>
                <a:cs typeface="Nirmala UI"/>
              </a:rPr>
              <a:t>Proposed pilot area</a:t>
            </a:r>
            <a:endParaRPr sz="1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BD8C343-B77E-4C1E-96E6-34F41C9E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12848"/>
            <a:ext cx="2423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6B7280"/>
                </a:solidFill>
                <a:latin typeface="Nirmala UI"/>
                <a:ea typeface="Nirmala UI"/>
                <a:cs typeface="Nirmala UI"/>
              </a:rPr>
              <a:t>First deployment location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D0E6026-B663-469D-B2F5-8CC2BCB5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188720"/>
            <a:ext cx="2606040" cy="1463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DEBD7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106EB93-D69B-4ACF-ACDE-670BFFE8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1280160"/>
            <a:ext cx="2423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B2A5C"/>
                </a:solidFill>
                <a:latin typeface="Nirmala UI"/>
                <a:ea typeface="Nirmala UI"/>
                <a:cs typeface="Nirmala UI"/>
              </a:rPr>
              <a:t>3 months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E1B5CA6-1EA2-4127-80F8-149F5D4E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1938528"/>
            <a:ext cx="2423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F2937"/>
                </a:solidFill>
                <a:latin typeface="Nirmala UI"/>
                <a:ea typeface="Nirmala UI"/>
                <a:cs typeface="Nirmala UI"/>
              </a:rPr>
              <a:t>Proposed pilot duration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21C6DCD-5B61-4732-AE6D-8F693EED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2212848"/>
            <a:ext cx="2423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6B7280"/>
                </a:solidFill>
                <a:latin typeface="Nirmala UI"/>
                <a:ea typeface="Nirmala UI"/>
                <a:cs typeface="Nirmala UI"/>
              </a:rPr>
              <a:t>Time-bound field test</a:t>
            </a:r>
            <a:endParaRPr sz="9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B0766F4-7362-4E37-9970-4DBBB88B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1188720"/>
            <a:ext cx="2606040" cy="1463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DEBD7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18B8E36-6B82-44DE-AC84-A5AB1A2F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1280160"/>
            <a:ext cx="2423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B2A5C"/>
                </a:solidFill>
                <a:latin typeface="Nirmala UI"/>
                <a:ea typeface="Nirmala UI"/>
                <a:cs typeface="Nirmala UI"/>
              </a:rPr>
              <a:t>2 measures</a:t>
            </a:r>
            <a:endParaRPr sz="30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00248AE-3131-42A1-917A-EE162359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1938528"/>
            <a:ext cx="2423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F2937"/>
                </a:solidFill>
                <a:latin typeface="Nirmala UI"/>
                <a:ea typeface="Nirmala UI"/>
                <a:cs typeface="Nirmala UI"/>
              </a:rPr>
              <a:t>Core workflow timings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9D840FD-ABBE-44FC-9362-EAC1790E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2212848"/>
            <a:ext cx="2423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6B7280"/>
                </a:solidFill>
                <a:latin typeface="Nirmala UI"/>
                <a:ea typeface="Nirmala UI"/>
                <a:cs typeface="Nirmala UI"/>
              </a:rPr>
              <a:t>Submission-to-verification; approval-to-publication</a:t>
            </a:r>
            <a:endParaRPr sz="9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F25FFA2-17C8-4A08-97C8-31F36271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4640"/>
            <a:ext cx="2606040" cy="178308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D928D0D-935C-4062-823D-1F1A1961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44368"/>
            <a:ext cx="2331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A5C"/>
                </a:solidFill>
                <a:latin typeface="Nirmala UI"/>
                <a:ea typeface="Nirmala UI"/>
                <a:cs typeface="Nirmala UI"/>
              </a:rPr>
              <a:t>Social impact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77645F9-5295-4859-9549-18A02BCE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18688"/>
            <a:ext cx="233172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B7280"/>
                </a:solidFill>
                <a:latin typeface="Nirmala UI"/>
                <a:ea typeface="Nirmala UI"/>
                <a:cs typeface="Nirmala UI"/>
              </a:rPr>
              <a:t>The pilot will measure whether verified updates reach road users sooner and gather traveler and agency feedback.</a:t>
            </a:r>
            <a:endParaRPr sz="10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BD00D48-DFDD-4AEF-B82F-31B5BC96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2834640"/>
            <a:ext cx="2606040" cy="178308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09B060B-556C-4E89-A10C-5E7DEC73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944368"/>
            <a:ext cx="2331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A5C"/>
                </a:solidFill>
                <a:latin typeface="Nirmala UI"/>
                <a:ea typeface="Nirmala UI"/>
                <a:cs typeface="Nirmala UI"/>
              </a:rPr>
              <a:t>Sustainability</a:t>
            </a:r>
            <a:endParaRPr sz="12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9C7E935-BD71-4698-8950-662F07C2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218688"/>
            <a:ext cx="233172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B7280"/>
                </a:solidFill>
                <a:latin typeface="Nirmala UI"/>
                <a:ea typeface="Nirmala UI"/>
                <a:cs typeface="Nirmala UI"/>
              </a:rPr>
              <a:t>Seek a department budget or grant after pilot scope and costs are validated. A long-term operating owner and funding model remain to be agreed.</a:t>
            </a:r>
            <a:endParaRPr sz="10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72ECC965-2339-470B-A231-477B7460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2834640"/>
            <a:ext cx="2606040" cy="178308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E880DF11-DB79-458C-B049-7E8CFEFB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2944368"/>
            <a:ext cx="2331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A5C"/>
                </a:solidFill>
                <a:latin typeface="Nirmala UI"/>
                <a:ea typeface="Nirmala UI"/>
                <a:cs typeface="Nirmala UI"/>
              </a:rPr>
              <a:t>Scale-up plan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E7AD21F-1D43-4602-9173-CAA051FC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3218688"/>
            <a:ext cx="233172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B7280"/>
                </a:solidFill>
                <a:latin typeface="Nirmala UI"/>
                <a:ea typeface="Nirmala UI"/>
                <a:cs typeface="Nirmala UI"/>
              </a:rPr>
              <a:t>Use Panaji findings to refine the workflow. Expand only with agency agreement, secure infrastructure and a costed implementation plan.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3875976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B2A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F96703C-E5CF-4DF7-BDCB-474B7496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47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5890ADE-0AC2-460E-9F88-9AFEC367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472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40" b="1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6</a:t>
            </a:r>
            <a:endParaRPr sz="154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1DF36D7-BE27-41EF-BE83-59C93778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01752"/>
            <a:ext cx="6858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Team/Individual &amp; Support Required</a:t>
            </a:r>
            <a:endParaRPr sz="2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43B49C5-551F-4052-9775-422A915C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713232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C9D2EC"/>
                </a:solidFill>
                <a:latin typeface="Nirmala UI"/>
                <a:ea typeface="Nirmala UI"/>
                <a:cs typeface="Nirmala UI"/>
              </a:rPr>
              <a:t>Who is behind the idea, and what help do you need from the Challenge?</a:t>
            </a:r>
            <a:endParaRPr sz="11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8D0D039-6DFF-40EA-BCCE-2DC3C2F8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210312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253870"/>
          </a:solidFill>
          <a:ln xmlns:a="http://schemas.openxmlformats.org/drawingml/2006/main" w="12700">
            <a:solidFill>
              <a:srgbClr val="2538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16820AF-A8B0-4465-9FE3-C46FE99E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7160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4C85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CA35F84-4874-45B9-9658-C3C542C3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1353312"/>
            <a:ext cx="1280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BILL111</a:t>
            </a:r>
            <a:endParaRPr sz="10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621BC8F-AEA8-417D-B4A7-664C38E9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1609344"/>
            <a:ext cx="12801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F28C28"/>
                </a:solidFill>
                <a:latin typeface="Nirmala UI"/>
                <a:ea typeface="Nirmala UI"/>
                <a:cs typeface="Nirmala UI"/>
              </a:rPr>
              <a:t>Project lead · sole builder</a:t>
            </a:r>
            <a:endParaRPr sz="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D3FA6FC-B99E-4AF5-9A27-263CAF79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1828800"/>
            <a:ext cx="34290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i="1">
                <a:solidFill>
                  <a:srgbClr val="C9D2EC"/>
                </a:solidFill>
                <a:latin typeface="Nirmala UI"/>
                <a:ea typeface="Nirmala UI"/>
                <a:cs typeface="Nirmala UI"/>
              </a:rPr>
              <a:t>Product concept, interface, frontend and workflow implementation</a:t>
            </a:r>
            <a:endParaRPr sz="8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1FE512F-A623-4CA7-9C2D-54ADF628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1188720"/>
            <a:ext cx="210312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253870"/>
          </a:solidFill>
          <a:ln xmlns:a="http://schemas.openxmlformats.org/drawingml/2006/main" w="12700">
            <a:solidFill>
              <a:srgbClr val="2538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1B666CA6-0017-470E-856E-DB49B277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188720"/>
            <a:ext cx="3566160" cy="338328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C9E561EF-3427-4DFB-9CF7-F7A29EA1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32588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5C"/>
                </a:solidFill>
                <a:latin typeface="Nirmala UI"/>
                <a:ea typeface="Nirmala UI"/>
                <a:cs typeface="Nirmala UI"/>
              </a:rPr>
              <a:t>Support we are seeking</a:t>
            </a:r>
            <a:endParaRPr sz="13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456699A3-E11C-460D-8254-93209B01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1764792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F28C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88D957C5-1785-4644-94E4-7C05F3C7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73736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irmala UI"/>
                <a:ea typeface="Nirmala UI"/>
                <a:cs typeface="Nirmala UI"/>
              </a:rPr>
              <a:t>Technical mentorship and guidance</a:t>
            </a:r>
            <a:endParaRPr sz="10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56B517E-BDBC-470F-B47B-93CBB480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148840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F28C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CABC9406-E392-4182-BF4B-B33F9FA0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12140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irmala UI"/>
                <a:ea typeface="Nirmala UI"/>
                <a:cs typeface="Nirmala UI"/>
              </a:rPr>
              <a:t>Pilot with Goa Traffic Police</a:t>
            </a:r>
            <a:endParaRPr sz="105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083BF64D-7A0C-4C65-913A-8739FC47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532888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F28C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A5E87D5-32F5-421D-AB71-B8D3AE7B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505456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irmala UI"/>
                <a:ea typeface="Nirmala UI"/>
                <a:cs typeface="Nirmala UI"/>
              </a:rPr>
              <a:t>Grant support for a scoped pilot</a:t>
            </a:r>
            <a:endParaRPr sz="105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5B22B191-CF2A-4537-827F-CF5D7A85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916936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F28C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CE8A515F-FA64-456B-925B-2087E0CE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889504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irmala UI"/>
                <a:ea typeface="Nirmala UI"/>
                <a:cs typeface="Nirmala UI"/>
              </a:rPr>
              <a:t>Baseline and evaluation support</a:t>
            </a:r>
            <a:endParaRPr sz="105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B52EE06A-D86D-472E-A28D-07458743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300984"/>
            <a:ext cx="182880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F28C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6E1E1E73-238B-4A34-BABE-DBE721DD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273552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irmala UI"/>
                <a:ea typeface="Nirmala UI"/>
                <a:cs typeface="Nirmala UI"/>
              </a:rPr>
              <a:t>Testing, privacy and security review</a:t>
            </a:r>
            <a:endParaRPr sz="105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8DD9E9A7-288C-45EC-8357-ACCD971B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703320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6B7280"/>
                </a:solidFill>
                <a:latin typeface="Nirmala UI"/>
                <a:ea typeface="Nirmala UI"/>
                <a:cs typeface="Nirmala UI"/>
              </a:rPr>
              <a:t>Help us turn the local prototype into a secure, measured three-month Panaji pilot with Goa Traffic Police.</a:t>
            </a:r>
            <a:endParaRPr sz="95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5BA28C28-2CC6-47EE-9C5C-19BB1014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4389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28C28"/>
                </a:solidFill>
                <a:latin typeface="Nirmala UI"/>
                <a:ea typeface="Nirmala UI"/>
                <a:cs typeface="Nirmala UI"/>
              </a:rPr>
              <a:t>Thank you  |  billjoyxavier19@gmail.com  |  +91 9834086959</a:t>
            </a:r>
            <a:endParaRPr sz="110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378C078F-267A-4D7E-A280-CAE62713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46320"/>
            <a:ext cx="3200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C9D2EC"/>
                </a:solidFill>
                <a:latin typeface="Nirmala UI"/>
                <a:ea typeface="Nirmala UI"/>
                <a:cs typeface="Nirmala UI"/>
              </a:rPr>
              <a:t>Seva Innovation Challenge 2026  |  Slide 6 of 6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70974333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2026-10-17T16:45:38.1940000Z</dcterms:created>
  <dcterms:modified xsi:type="dcterms:W3CDTF">2026-10-17T16:45:38.1940000Z</dcterms:modified>
</coreProperties>
</file>